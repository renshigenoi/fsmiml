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ver-kicker">
            <a:extLst>
              <a:ext uri="{FF2B5EF4-FFF2-40B4-BE49-F238E27FC236}">
                <a16:creationId xmlns:a16="http://schemas.microsoft.com/office/drawing/2014/main" id="{4F88CB86-31DD-414B-B3C5-0900A91AA253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INDO MOTOR LESTARI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0EB2BD57-F54F-4B0D-BA82-2CCF516E15E7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9055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Field Service</a:t>
            </a:r>
          </a:p>
          <a:p>
            <a:pPr algn="l">
              <a:defRPr sz="4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Management</a:t>
            </a:r>
          </a:p>
        </p:txBody>
      </p:sp>
      <p:sp>
        <p:nvSpPr>
          <p:cNvPr id="3" name="cover-sub">
            <a:extLst>
              <a:ext uri="{FF2B5EF4-FFF2-40B4-BE49-F238E27FC236}">
                <a16:creationId xmlns:a16="http://schemas.microsoft.com/office/drawing/2014/main" id="{DEB3BA30-500D-495E-B159-D3EBA4E6B765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5334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800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Alur </a:t>
            </a:r>
            <a:r>
              <a:rPr dirty="0" err="1"/>
              <a:t>pekerjaan</a:t>
            </a:r>
            <a:r>
              <a:rPr dirty="0"/>
              <a:t> end-to-end: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koordinator</a:t>
            </a:r>
            <a:r>
              <a:rPr dirty="0"/>
              <a:t> di web admin </a:t>
            </a:r>
            <a:r>
              <a:rPr dirty="0" err="1"/>
              <a:t>hingga</a:t>
            </a:r>
            <a:r>
              <a:rPr dirty="0"/>
              <a:t> </a:t>
            </a:r>
            <a:r>
              <a:rPr dirty="0" err="1"/>
              <a:t>teknisi</a:t>
            </a:r>
            <a:r>
              <a:rPr dirty="0"/>
              <a:t> </a:t>
            </a:r>
            <a:r>
              <a:rPr dirty="0" err="1"/>
              <a:t>menyelesaikan</a:t>
            </a:r>
            <a:r>
              <a:rPr dirty="0"/>
              <a:t> </a:t>
            </a:r>
            <a:r>
              <a:rPr dirty="0" err="1"/>
              <a:t>tugas</a:t>
            </a:r>
            <a:r>
              <a:rPr dirty="0"/>
              <a:t> di </a:t>
            </a:r>
            <a:r>
              <a:rPr dirty="0" err="1"/>
              <a:t>lapangan</a:t>
            </a:r>
            <a:r>
              <a:rPr dirty="0"/>
              <a:t>.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383F4B6A-4021-410D-9EBD-07973C29643B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Bahan presentasi · FSM IML</a:t>
            </a:r>
          </a:p>
        </p:txBody>
      </p:sp>
      <p:sp>
        <p:nvSpPr>
          <p:cNvPr id="5" name="cover-shot">
            <a:extLst>
              <a:ext uri="{FF2B5EF4-FFF2-40B4-BE49-F238E27FC236}">
                <a16:creationId xmlns:a16="http://schemas.microsoft.com/office/drawing/2014/main" id="{B3F3C4F7-5123-417D-97B1-8FC2900ED6EE}"/>
              </a:ext>
            </a:extLst>
          </p:cNvPr>
          <p:cNvSpPr>
            <a:spLocks noGrp="1"/>
          </p:cNvSpPr>
          <p:nvPr/>
        </p:nvSpPr>
        <p:spPr>
          <a:xfrm>
            <a:off x="6858000" y="914400"/>
            <a:ext cx="4762500" cy="5143500"/>
          </a:xfrm>
          <a:prstGeom prst="roundRect">
            <a:avLst>
              <a:gd name="adj" fmla="val 2400"/>
            </a:avLst>
          </a:prstGeom>
          <a:solidFill>
            <a:srgbClr val="EAF5FB"/>
          </a:solidFill>
          <a:ln w="9525">
            <a:solidFill>
              <a:srgbClr val="9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-shot-label">
            <a:extLst>
              <a:ext uri="{FF2B5EF4-FFF2-40B4-BE49-F238E27FC236}">
                <a16:creationId xmlns:a16="http://schemas.microsoft.com/office/drawing/2014/main" id="{51E3C135-4AB5-47CA-B966-5390DB4B8FD0}"/>
              </a:ext>
            </a:extLst>
          </p:cNvPr>
          <p:cNvSpPr>
            <a:spLocks noGrp="1"/>
          </p:cNvSpPr>
          <p:nvPr/>
        </p:nvSpPr>
        <p:spPr>
          <a:xfrm>
            <a:off x="6858000" y="30861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200" b="1">
                <a:solidFill>
                  <a:srgbClr val="2B5E8C"/>
                </a:solidFill>
                <a:latin typeface="Helvetica Neue"/>
                <a:ea typeface="Helvetica Neue"/>
                <a:cs typeface="Helvetica Neue"/>
              </a:defRPr>
            </a:pPr>
            <a:r>
              <a:t>TEMPAT SCREENSHOT</a:t>
            </a:r>
          </a:p>
        </p:txBody>
      </p:sp>
      <p:sp>
        <p:nvSpPr>
          <p:cNvPr id="7" name="cover-shot-sub">
            <a:extLst>
              <a:ext uri="{FF2B5EF4-FFF2-40B4-BE49-F238E27FC236}">
                <a16:creationId xmlns:a16="http://schemas.microsoft.com/office/drawing/2014/main" id="{BCEF215F-759D-4C8E-A3AA-A217FA48CE77}"/>
              </a:ext>
            </a:extLst>
          </p:cNvPr>
          <p:cNvSpPr>
            <a:spLocks noGrp="1"/>
          </p:cNvSpPr>
          <p:nvPr/>
        </p:nvSpPr>
        <p:spPr>
          <a:xfrm>
            <a:off x="7086600" y="3505200"/>
            <a:ext cx="430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3C6E9E"/>
                </a:solidFill>
                <a:latin typeface="Helvetica Neue"/>
                <a:ea typeface="Helvetica Neue"/>
                <a:cs typeface="Helvetica Neue"/>
              </a:defRPr>
            </a:pPr>
            <a:r>
              <a:t>Halaman login atau dashboard koordinator</a:t>
            </a:r>
          </a:p>
        </p:txBody>
      </p:sp>
      <p:sp>
        <p:nvSpPr>
          <p:cNvPr id="8" name="cover-shot-hint">
            <a:extLst>
              <a:ext uri="{FF2B5EF4-FFF2-40B4-BE49-F238E27FC236}">
                <a16:creationId xmlns:a16="http://schemas.microsoft.com/office/drawing/2014/main" id="{75646C1A-A62C-4C76-8B8B-C9E4BF230F49}"/>
              </a:ext>
            </a:extLst>
          </p:cNvPr>
          <p:cNvSpPr>
            <a:spLocks noGrp="1"/>
          </p:cNvSpPr>
          <p:nvPr/>
        </p:nvSpPr>
        <p:spPr>
          <a:xfrm>
            <a:off x="7086600" y="5695950"/>
            <a:ext cx="430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900" b="0">
                <a:solidFill>
                  <a:srgbClr val="6E8FB0"/>
                </a:solidFill>
                <a:latin typeface="Helvetica Neue"/>
                <a:ea typeface="Helvetica Neue"/>
                <a:cs typeface="Helvetica Neue"/>
              </a:defRPr>
            </a:pPr>
            <a:r>
              <a:t>Ganti dengan gambar aktual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3EF005-98AC-8F29-BC1D-3B2B87CF1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885067"/>
            <a:ext cx="5160987" cy="524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1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">
            <a:extLst>
              <a:ext uri="{FF2B5EF4-FFF2-40B4-BE49-F238E27FC236}">
                <a16:creationId xmlns:a16="http://schemas.microsoft.com/office/drawing/2014/main" id="{688F045B-AB39-4E2D-91B2-3780728BC6E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GAMBARAN ALUR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6DD09E1-CEE0-4A24-ABCB-0D9C5111AB67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Lima tahap dari input SPK sampai pekerjaan selesai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44C2CC2F-5B13-4525-B9C8-F1A1CA2CAB2C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A12984EB-3C0F-4D7E-AF63-32041D8BE2BC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step-0">
            <a:extLst>
              <a:ext uri="{FF2B5EF4-FFF2-40B4-BE49-F238E27FC236}">
                <a16:creationId xmlns:a16="http://schemas.microsoft.com/office/drawing/2014/main" id="{EEBAFDF1-9D74-4413-AB7E-3E90125B86FD}"/>
              </a:ext>
            </a:extLst>
          </p:cNvPr>
          <p:cNvSpPr>
            <a:spLocks noGrp="1"/>
          </p:cNvSpPr>
          <p:nvPr/>
        </p:nvSpPr>
        <p:spPr>
          <a:xfrm>
            <a:off x="504825" y="2381250"/>
            <a:ext cx="2038350" cy="209550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ep-num-0">
            <a:extLst>
              <a:ext uri="{FF2B5EF4-FFF2-40B4-BE49-F238E27FC236}">
                <a16:creationId xmlns:a16="http://schemas.microsoft.com/office/drawing/2014/main" id="{09003398-0D3A-4D9C-8A5D-7CE0099E0541}"/>
              </a:ext>
            </a:extLst>
          </p:cNvPr>
          <p:cNvSpPr>
            <a:spLocks noGrp="1"/>
          </p:cNvSpPr>
          <p:nvPr/>
        </p:nvSpPr>
        <p:spPr>
          <a:xfrm>
            <a:off x="504825" y="25908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7" name="step-name-0">
            <a:extLst>
              <a:ext uri="{FF2B5EF4-FFF2-40B4-BE49-F238E27FC236}">
                <a16:creationId xmlns:a16="http://schemas.microsoft.com/office/drawing/2014/main" id="{9FC48EE4-AA76-4B4D-A959-20BBE1D9567B}"/>
              </a:ext>
            </a:extLst>
          </p:cNvPr>
          <p:cNvSpPr>
            <a:spLocks noGrp="1"/>
          </p:cNvSpPr>
          <p:nvPr/>
        </p:nvSpPr>
        <p:spPr>
          <a:xfrm>
            <a:off x="619125" y="31623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Input SPK</a:t>
            </a:r>
          </a:p>
        </p:txBody>
      </p:sp>
      <p:sp>
        <p:nvSpPr>
          <p:cNvPr id="8" name="step-desc-0">
            <a:extLst>
              <a:ext uri="{FF2B5EF4-FFF2-40B4-BE49-F238E27FC236}">
                <a16:creationId xmlns:a16="http://schemas.microsoft.com/office/drawing/2014/main" id="{06C1FB5C-7616-49EF-AA64-0FAFE27C338B}"/>
              </a:ext>
            </a:extLst>
          </p:cNvPr>
          <p:cNvSpPr>
            <a:spLocks noGrp="1"/>
          </p:cNvSpPr>
          <p:nvPr/>
        </p:nvSpPr>
        <p:spPr>
          <a:xfrm>
            <a:off x="638175" y="3638550"/>
            <a:ext cx="1771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Koordinator membuat work order dari data SPK</a:t>
            </a:r>
          </a:p>
        </p:txBody>
      </p:sp>
      <p:sp>
        <p:nvSpPr>
          <p:cNvPr id="9" name="step-arrow-0">
            <a:extLst>
              <a:ext uri="{FF2B5EF4-FFF2-40B4-BE49-F238E27FC236}">
                <a16:creationId xmlns:a16="http://schemas.microsoft.com/office/drawing/2014/main" id="{8733EC9B-DB59-431F-8FC9-D6A771629741}"/>
              </a:ext>
            </a:extLst>
          </p:cNvPr>
          <p:cNvSpPr>
            <a:spLocks noGrp="1"/>
          </p:cNvSpPr>
          <p:nvPr/>
        </p:nvSpPr>
        <p:spPr>
          <a:xfrm>
            <a:off x="2571750" y="3238500"/>
            <a:ext cx="190500" cy="381000"/>
          </a:xfrm>
          <a:prstGeom prst="rightArrow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ep-1">
            <a:extLst>
              <a:ext uri="{FF2B5EF4-FFF2-40B4-BE49-F238E27FC236}">
                <a16:creationId xmlns:a16="http://schemas.microsoft.com/office/drawing/2014/main" id="{6D74118E-8CA3-47F8-87DB-08E2B16D3130}"/>
              </a:ext>
            </a:extLst>
          </p:cNvPr>
          <p:cNvSpPr>
            <a:spLocks noGrp="1"/>
          </p:cNvSpPr>
          <p:nvPr/>
        </p:nvSpPr>
        <p:spPr>
          <a:xfrm>
            <a:off x="2790825" y="2381250"/>
            <a:ext cx="2038350" cy="209550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-num-1">
            <a:extLst>
              <a:ext uri="{FF2B5EF4-FFF2-40B4-BE49-F238E27FC236}">
                <a16:creationId xmlns:a16="http://schemas.microsoft.com/office/drawing/2014/main" id="{D629EB92-CE2E-4072-BAB2-36905A39A558}"/>
              </a:ext>
            </a:extLst>
          </p:cNvPr>
          <p:cNvSpPr>
            <a:spLocks noGrp="1"/>
          </p:cNvSpPr>
          <p:nvPr/>
        </p:nvSpPr>
        <p:spPr>
          <a:xfrm>
            <a:off x="2790825" y="25908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2" name="step-name-1">
            <a:extLst>
              <a:ext uri="{FF2B5EF4-FFF2-40B4-BE49-F238E27FC236}">
                <a16:creationId xmlns:a16="http://schemas.microsoft.com/office/drawing/2014/main" id="{55F477DF-7C0B-4017-A801-624BBED1E33A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Tugas Teknisi</a:t>
            </a:r>
          </a:p>
        </p:txBody>
      </p:sp>
      <p:sp>
        <p:nvSpPr>
          <p:cNvPr id="13" name="step-desc-1">
            <a:extLst>
              <a:ext uri="{FF2B5EF4-FFF2-40B4-BE49-F238E27FC236}">
                <a16:creationId xmlns:a16="http://schemas.microsoft.com/office/drawing/2014/main" id="{30FEBCB4-3513-43C9-A4C4-B078A4F45445}"/>
              </a:ext>
            </a:extLst>
          </p:cNvPr>
          <p:cNvSpPr>
            <a:spLocks noGrp="1"/>
          </p:cNvSpPr>
          <p:nvPr/>
        </p:nvSpPr>
        <p:spPr>
          <a:xfrm>
            <a:off x="2924175" y="3638550"/>
            <a:ext cx="1771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Teknisi menerima notifikasi &amp; mengonfirmasi</a:t>
            </a:r>
          </a:p>
        </p:txBody>
      </p:sp>
      <p:sp>
        <p:nvSpPr>
          <p:cNvPr id="14" name="step-arrow-1">
            <a:extLst>
              <a:ext uri="{FF2B5EF4-FFF2-40B4-BE49-F238E27FC236}">
                <a16:creationId xmlns:a16="http://schemas.microsoft.com/office/drawing/2014/main" id="{F8CA0002-063A-4073-ABCB-8ED7C4A55EB4}"/>
              </a:ext>
            </a:extLst>
          </p:cNvPr>
          <p:cNvSpPr>
            <a:spLocks noGrp="1"/>
          </p:cNvSpPr>
          <p:nvPr/>
        </p:nvSpPr>
        <p:spPr>
          <a:xfrm>
            <a:off x="4857750" y="3238500"/>
            <a:ext cx="190500" cy="381000"/>
          </a:xfrm>
          <a:prstGeom prst="rightArrow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ep-2">
            <a:extLst>
              <a:ext uri="{FF2B5EF4-FFF2-40B4-BE49-F238E27FC236}">
                <a16:creationId xmlns:a16="http://schemas.microsoft.com/office/drawing/2014/main" id="{3385BDFB-253D-44D8-8DFC-A5347B51CA3E}"/>
              </a:ext>
            </a:extLst>
          </p:cNvPr>
          <p:cNvSpPr>
            <a:spLocks noGrp="1"/>
          </p:cNvSpPr>
          <p:nvPr/>
        </p:nvSpPr>
        <p:spPr>
          <a:xfrm>
            <a:off x="5076825" y="2381250"/>
            <a:ext cx="2038350" cy="209550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-num-2">
            <a:extLst>
              <a:ext uri="{FF2B5EF4-FFF2-40B4-BE49-F238E27FC236}">
                <a16:creationId xmlns:a16="http://schemas.microsoft.com/office/drawing/2014/main" id="{2FB66C13-6A09-4CB1-8112-F9EDD9BFDEF8}"/>
              </a:ext>
            </a:extLst>
          </p:cNvPr>
          <p:cNvSpPr>
            <a:spLocks noGrp="1"/>
          </p:cNvSpPr>
          <p:nvPr/>
        </p:nvSpPr>
        <p:spPr>
          <a:xfrm>
            <a:off x="5076825" y="25908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7" name="step-name-2">
            <a:extLst>
              <a:ext uri="{FF2B5EF4-FFF2-40B4-BE49-F238E27FC236}">
                <a16:creationId xmlns:a16="http://schemas.microsoft.com/office/drawing/2014/main" id="{53D914E1-AFE4-4AF2-A4AD-B385FE196D85}"/>
              </a:ext>
            </a:extLst>
          </p:cNvPr>
          <p:cNvSpPr>
            <a:spLocks noGrp="1"/>
          </p:cNvSpPr>
          <p:nvPr/>
        </p:nvSpPr>
        <p:spPr>
          <a:xfrm>
            <a:off x="5191125" y="31623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Perjalanan</a:t>
            </a:r>
          </a:p>
        </p:txBody>
      </p:sp>
      <p:sp>
        <p:nvSpPr>
          <p:cNvPr id="18" name="step-desc-2">
            <a:extLst>
              <a:ext uri="{FF2B5EF4-FFF2-40B4-BE49-F238E27FC236}">
                <a16:creationId xmlns:a16="http://schemas.microsoft.com/office/drawing/2014/main" id="{21F1E84D-663A-4AE4-9A4C-B5C448E677F5}"/>
              </a:ext>
            </a:extLst>
          </p:cNvPr>
          <p:cNvSpPr>
            <a:spLocks noGrp="1"/>
          </p:cNvSpPr>
          <p:nvPr/>
        </p:nvSpPr>
        <p:spPr>
          <a:xfrm>
            <a:off x="5210175" y="3638550"/>
            <a:ext cx="1771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GPS aktif, customer dapat link tracking</a:t>
            </a:r>
          </a:p>
        </p:txBody>
      </p:sp>
      <p:sp>
        <p:nvSpPr>
          <p:cNvPr id="19" name="step-arrow-2">
            <a:extLst>
              <a:ext uri="{FF2B5EF4-FFF2-40B4-BE49-F238E27FC236}">
                <a16:creationId xmlns:a16="http://schemas.microsoft.com/office/drawing/2014/main" id="{EDD4BBB3-C49B-4814-9ABA-1DEBBA726069}"/>
              </a:ext>
            </a:extLst>
          </p:cNvPr>
          <p:cNvSpPr>
            <a:spLocks noGrp="1"/>
          </p:cNvSpPr>
          <p:nvPr/>
        </p:nvSpPr>
        <p:spPr>
          <a:xfrm>
            <a:off x="7143750" y="3238500"/>
            <a:ext cx="190500" cy="381000"/>
          </a:xfrm>
          <a:prstGeom prst="rightArrow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-3">
            <a:extLst>
              <a:ext uri="{FF2B5EF4-FFF2-40B4-BE49-F238E27FC236}">
                <a16:creationId xmlns:a16="http://schemas.microsoft.com/office/drawing/2014/main" id="{9A3F984A-60C2-453B-A7AA-654848EA20E7}"/>
              </a:ext>
            </a:extLst>
          </p:cNvPr>
          <p:cNvSpPr>
            <a:spLocks noGrp="1"/>
          </p:cNvSpPr>
          <p:nvPr/>
        </p:nvSpPr>
        <p:spPr>
          <a:xfrm>
            <a:off x="7362825" y="2381250"/>
            <a:ext cx="2038350" cy="209550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ep-num-3">
            <a:extLst>
              <a:ext uri="{FF2B5EF4-FFF2-40B4-BE49-F238E27FC236}">
                <a16:creationId xmlns:a16="http://schemas.microsoft.com/office/drawing/2014/main" id="{B5102EEC-D82D-4B4C-B324-DA6EFCA47F65}"/>
              </a:ext>
            </a:extLst>
          </p:cNvPr>
          <p:cNvSpPr>
            <a:spLocks noGrp="1"/>
          </p:cNvSpPr>
          <p:nvPr/>
        </p:nvSpPr>
        <p:spPr>
          <a:xfrm>
            <a:off x="7362825" y="25908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2" name="step-name-3">
            <a:extLst>
              <a:ext uri="{FF2B5EF4-FFF2-40B4-BE49-F238E27FC236}">
                <a16:creationId xmlns:a16="http://schemas.microsoft.com/office/drawing/2014/main" id="{ED03137B-D000-4F8B-BC55-FF224D9F4D21}"/>
              </a:ext>
            </a:extLst>
          </p:cNvPr>
          <p:cNvSpPr>
            <a:spLocks noGrp="1"/>
          </p:cNvSpPr>
          <p:nvPr/>
        </p:nvSpPr>
        <p:spPr>
          <a:xfrm>
            <a:off x="7477125" y="31623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Pemasangan</a:t>
            </a:r>
          </a:p>
        </p:txBody>
      </p:sp>
      <p:sp>
        <p:nvSpPr>
          <p:cNvPr id="23" name="step-desc-3">
            <a:extLst>
              <a:ext uri="{FF2B5EF4-FFF2-40B4-BE49-F238E27FC236}">
                <a16:creationId xmlns:a16="http://schemas.microsoft.com/office/drawing/2014/main" id="{40698CE4-0F33-4566-9F83-AA5A318EAA8D}"/>
              </a:ext>
            </a:extLst>
          </p:cNvPr>
          <p:cNvSpPr>
            <a:spLocks noGrp="1"/>
          </p:cNvSpPr>
          <p:nvPr/>
        </p:nvSpPr>
        <p:spPr>
          <a:xfrm>
            <a:off x="7496175" y="3638550"/>
            <a:ext cx="1771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Tiba di lokasi, foto &amp; update status</a:t>
            </a:r>
          </a:p>
        </p:txBody>
      </p:sp>
      <p:sp>
        <p:nvSpPr>
          <p:cNvPr id="24" name="step-arrow-3">
            <a:extLst>
              <a:ext uri="{FF2B5EF4-FFF2-40B4-BE49-F238E27FC236}">
                <a16:creationId xmlns:a16="http://schemas.microsoft.com/office/drawing/2014/main" id="{0FD0D490-0208-4506-B01D-209A103497BA}"/>
              </a:ext>
            </a:extLst>
          </p:cNvPr>
          <p:cNvSpPr>
            <a:spLocks noGrp="1"/>
          </p:cNvSpPr>
          <p:nvPr/>
        </p:nvSpPr>
        <p:spPr>
          <a:xfrm>
            <a:off x="9429750" y="3238500"/>
            <a:ext cx="190500" cy="381000"/>
          </a:xfrm>
          <a:prstGeom prst="rightArrow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ep-4">
            <a:extLst>
              <a:ext uri="{FF2B5EF4-FFF2-40B4-BE49-F238E27FC236}">
                <a16:creationId xmlns:a16="http://schemas.microsoft.com/office/drawing/2014/main" id="{55B99FD0-EEF3-4725-B1C0-4EFD9D69946D}"/>
              </a:ext>
            </a:extLst>
          </p:cNvPr>
          <p:cNvSpPr>
            <a:spLocks noGrp="1"/>
          </p:cNvSpPr>
          <p:nvPr/>
        </p:nvSpPr>
        <p:spPr>
          <a:xfrm>
            <a:off x="9648825" y="2381250"/>
            <a:ext cx="2038350" cy="209550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ep-num-4">
            <a:extLst>
              <a:ext uri="{FF2B5EF4-FFF2-40B4-BE49-F238E27FC236}">
                <a16:creationId xmlns:a16="http://schemas.microsoft.com/office/drawing/2014/main" id="{A169CD12-D9E7-4776-9CC3-5F010FDFD960}"/>
              </a:ext>
            </a:extLst>
          </p:cNvPr>
          <p:cNvSpPr>
            <a:spLocks noGrp="1"/>
          </p:cNvSpPr>
          <p:nvPr/>
        </p:nvSpPr>
        <p:spPr>
          <a:xfrm>
            <a:off x="9648825" y="25908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7" name="step-name-4">
            <a:extLst>
              <a:ext uri="{FF2B5EF4-FFF2-40B4-BE49-F238E27FC236}">
                <a16:creationId xmlns:a16="http://schemas.microsoft.com/office/drawing/2014/main" id="{B0A017E0-262F-400F-B26A-A1EC4017C863}"/>
              </a:ext>
            </a:extLst>
          </p:cNvPr>
          <p:cNvSpPr>
            <a:spLocks noGrp="1"/>
          </p:cNvSpPr>
          <p:nvPr/>
        </p:nvSpPr>
        <p:spPr>
          <a:xfrm>
            <a:off x="9763125" y="31623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Selesai</a:t>
            </a:r>
          </a:p>
        </p:txBody>
      </p:sp>
      <p:sp>
        <p:nvSpPr>
          <p:cNvPr id="28" name="step-desc-4">
            <a:extLst>
              <a:ext uri="{FF2B5EF4-FFF2-40B4-BE49-F238E27FC236}">
                <a16:creationId xmlns:a16="http://schemas.microsoft.com/office/drawing/2014/main" id="{7E56CF47-0C60-47BB-B21C-7FBFB4B9784B}"/>
              </a:ext>
            </a:extLst>
          </p:cNvPr>
          <p:cNvSpPr>
            <a:spLocks noGrp="1"/>
          </p:cNvSpPr>
          <p:nvPr/>
        </p:nvSpPr>
        <p:spPr>
          <a:xfrm>
            <a:off x="9782175" y="3638550"/>
            <a:ext cx="1771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Dokumentasi tersimpan, status akhir</a:t>
            </a:r>
          </a:p>
        </p:txBody>
      </p:sp>
      <p:sp>
        <p:nvSpPr>
          <p:cNvPr id="29" name="flow-note">
            <a:extLst>
              <a:ext uri="{FF2B5EF4-FFF2-40B4-BE49-F238E27FC236}">
                <a16:creationId xmlns:a16="http://schemas.microsoft.com/office/drawing/2014/main" id="{72F83F00-57F1-4707-A717-50049786A65D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3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Setiap tahap terekam: status work order, notifikasi, dan riwayat lokasi otomatis tersimpan.</a:t>
            </a:r>
          </a:p>
        </p:txBody>
      </p:sp>
    </p:spTree>
    <p:extLst>
      <p:ext uri="{BB962C8B-B14F-4D97-AF65-F5344CB8AC3E}">
        <p14:creationId xmlns:p14="http://schemas.microsoft.com/office/powerpoint/2010/main" val="28979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7602D86F-4235-4C99-B897-E5B6977D140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BAGIAN 1 · WEB ADMIN KOORDINATOR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EABAEDE-7793-493F-BE88-C9A447A90F67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Satu dashboard untuk kelola seluruh pekerjaan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47E45EB9-ACFB-49AB-91D2-4C742A3D0048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4AE63A8-4973-4ECC-9585-42BFE517DBDD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s3-left">
            <a:extLst>
              <a:ext uri="{FF2B5EF4-FFF2-40B4-BE49-F238E27FC236}">
                <a16:creationId xmlns:a16="http://schemas.microsoft.com/office/drawing/2014/main" id="{E29E8A89-9F57-487F-855E-648EAAB1066D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4953000" cy="381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dirty="0">
                <a:solidFill>
                  <a:srgbClr val="111111"/>
                </a:solidFill>
              </a:rPr>
              <a:t>Input SPK </a:t>
            </a:r>
            <a:r>
              <a:rPr b="1" dirty="0" err="1">
                <a:solidFill>
                  <a:srgbClr val="111111"/>
                </a:solidFill>
              </a:rPr>
              <a:t>baru</a:t>
            </a:r>
            <a:r>
              <a:rPr b="1" dirty="0">
                <a:solidFill>
                  <a:srgbClr val="111111"/>
                </a:solidFill>
              </a:rPr>
              <a:t> — </a:t>
            </a:r>
            <a:r>
              <a:rPr dirty="0" err="1">
                <a:solidFill>
                  <a:srgbClr val="333D4C"/>
                </a:solidFill>
              </a:rPr>
              <a:t>cari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dari</a:t>
            </a:r>
            <a:r>
              <a:rPr dirty="0">
                <a:solidFill>
                  <a:srgbClr val="333D4C"/>
                </a:solidFill>
              </a:rPr>
              <a:t> data sales legacy, </a:t>
            </a:r>
            <a:r>
              <a:rPr dirty="0" err="1">
                <a:solidFill>
                  <a:srgbClr val="333D4C"/>
                </a:solidFill>
              </a:rPr>
              <a:t>lengkapi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jadwal</a:t>
            </a:r>
            <a:r>
              <a:rPr dirty="0">
                <a:solidFill>
                  <a:srgbClr val="333D4C"/>
                </a:solidFill>
              </a:rPr>
              <a:t> &amp; </a:t>
            </a:r>
            <a:r>
              <a:rPr dirty="0" err="1">
                <a:solidFill>
                  <a:srgbClr val="333D4C"/>
                </a:solidFill>
              </a:rPr>
              <a:t>lokasi</a:t>
            </a:r>
            <a:endParaRPr dirty="0">
              <a:solidFill>
                <a:srgbClr val="333D4C"/>
              </a:solidFill>
            </a:endParaRP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dirty="0">
                <a:solidFill>
                  <a:srgbClr val="111111"/>
                </a:solidFill>
              </a:rPr>
              <a:t>Kelola work order — </a:t>
            </a:r>
            <a:r>
              <a:rPr dirty="0" err="1">
                <a:solidFill>
                  <a:srgbClr val="333D4C"/>
                </a:solidFill>
              </a:rPr>
              <a:t>ubah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jadwal</a:t>
            </a:r>
            <a:r>
              <a:rPr dirty="0">
                <a:solidFill>
                  <a:srgbClr val="333D4C"/>
                </a:solidFill>
              </a:rPr>
              <a:t>, </a:t>
            </a:r>
            <a:r>
              <a:rPr dirty="0" err="1">
                <a:solidFill>
                  <a:srgbClr val="333D4C"/>
                </a:solidFill>
              </a:rPr>
              <a:t>geser</a:t>
            </a:r>
            <a:r>
              <a:rPr dirty="0">
                <a:solidFill>
                  <a:srgbClr val="333D4C"/>
                </a:solidFill>
              </a:rPr>
              <a:t> pin </a:t>
            </a:r>
            <a:r>
              <a:rPr dirty="0" err="1">
                <a:solidFill>
                  <a:srgbClr val="333D4C"/>
                </a:solidFill>
              </a:rPr>
              <a:t>lokasi</a:t>
            </a:r>
            <a:r>
              <a:rPr dirty="0">
                <a:solidFill>
                  <a:srgbClr val="333D4C"/>
                </a:solidFill>
              </a:rPr>
              <a:t>, </a:t>
            </a:r>
            <a:r>
              <a:rPr dirty="0" err="1">
                <a:solidFill>
                  <a:srgbClr val="333D4C"/>
                </a:solidFill>
              </a:rPr>
              <a:t>ganti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teknisi</a:t>
            </a:r>
            <a:endParaRPr dirty="0">
              <a:solidFill>
                <a:srgbClr val="333D4C"/>
              </a:solidFill>
            </a:endParaRP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dirty="0" err="1">
                <a:solidFill>
                  <a:srgbClr val="111111"/>
                </a:solidFill>
              </a:rPr>
              <a:t>Pantau</a:t>
            </a:r>
            <a:r>
              <a:rPr b="1" dirty="0">
                <a:solidFill>
                  <a:srgbClr val="111111"/>
                </a:solidFill>
              </a:rPr>
              <a:t> status — </a:t>
            </a:r>
            <a:r>
              <a:rPr dirty="0" err="1">
                <a:solidFill>
                  <a:srgbClr val="333D4C"/>
                </a:solidFill>
              </a:rPr>
              <a:t>dari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menunggu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konfirmasi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sampai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selesai</a:t>
            </a:r>
            <a:r>
              <a:rPr dirty="0">
                <a:solidFill>
                  <a:srgbClr val="333D4C"/>
                </a:solidFill>
              </a:rPr>
              <a:t>, </a:t>
            </a:r>
            <a:r>
              <a:rPr dirty="0" err="1">
                <a:solidFill>
                  <a:srgbClr val="333D4C"/>
                </a:solidFill>
              </a:rPr>
              <a:t>beserta</a:t>
            </a:r>
            <a:r>
              <a:rPr dirty="0">
                <a:solidFill>
                  <a:srgbClr val="333D4C"/>
                </a:solidFill>
              </a:rPr>
              <a:t> link tracking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dirty="0">
                <a:solidFill>
                  <a:srgbClr val="111111"/>
                </a:solidFill>
              </a:rPr>
              <a:t>Data </a:t>
            </a:r>
            <a:r>
              <a:rPr b="1" dirty="0" err="1">
                <a:solidFill>
                  <a:srgbClr val="111111"/>
                </a:solidFill>
              </a:rPr>
              <a:t>teknisi</a:t>
            </a:r>
            <a:r>
              <a:rPr b="1" dirty="0">
                <a:solidFill>
                  <a:srgbClr val="111111"/>
                </a:solidFill>
              </a:rPr>
              <a:t> — </a:t>
            </a:r>
            <a:r>
              <a:rPr dirty="0">
                <a:solidFill>
                  <a:srgbClr val="333D4C"/>
                </a:solidFill>
              </a:rPr>
              <a:t>daftar </a:t>
            </a:r>
            <a:r>
              <a:rPr dirty="0" err="1">
                <a:solidFill>
                  <a:srgbClr val="333D4C"/>
                </a:solidFill>
              </a:rPr>
              <a:t>teknisi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langsung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dari</a:t>
            </a:r>
            <a:r>
              <a:rPr dirty="0">
                <a:solidFill>
                  <a:srgbClr val="333D4C"/>
                </a:solidFill>
              </a:rPr>
              <a:t> database lama</a:t>
            </a:r>
          </a:p>
        </p:txBody>
      </p:sp>
      <p:sp>
        <p:nvSpPr>
          <p:cNvPr id="6" name="s3-shot">
            <a:extLst>
              <a:ext uri="{FF2B5EF4-FFF2-40B4-BE49-F238E27FC236}">
                <a16:creationId xmlns:a16="http://schemas.microsoft.com/office/drawing/2014/main" id="{91E2F794-426B-4544-B9E3-44262D387B4F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EAF5FB"/>
          </a:solidFill>
          <a:ln w="9525">
            <a:solidFill>
              <a:srgbClr val="9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3-shot-label">
            <a:extLst>
              <a:ext uri="{FF2B5EF4-FFF2-40B4-BE49-F238E27FC236}">
                <a16:creationId xmlns:a16="http://schemas.microsoft.com/office/drawing/2014/main" id="{352C0E9E-E201-4558-914E-BE2C5D69AAD6}"/>
              </a:ext>
            </a:extLst>
          </p:cNvPr>
          <p:cNvSpPr>
            <a:spLocks noGrp="1"/>
          </p:cNvSpPr>
          <p:nvPr/>
        </p:nvSpPr>
        <p:spPr>
          <a:xfrm>
            <a:off x="6286500" y="36004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200" b="1">
                <a:solidFill>
                  <a:srgbClr val="2B5E8C"/>
                </a:solidFill>
                <a:latin typeface="Helvetica Neue"/>
                <a:ea typeface="Helvetica Neue"/>
                <a:cs typeface="Helvetica Neue"/>
              </a:defRPr>
            </a:pPr>
            <a:r>
              <a:t>TEMPAT SCREENSHOT</a:t>
            </a:r>
          </a:p>
        </p:txBody>
      </p:sp>
      <p:sp>
        <p:nvSpPr>
          <p:cNvPr id="8" name="s3-shot-sub">
            <a:extLst>
              <a:ext uri="{FF2B5EF4-FFF2-40B4-BE49-F238E27FC236}">
                <a16:creationId xmlns:a16="http://schemas.microsoft.com/office/drawing/2014/main" id="{CF95510B-4279-49A0-856E-8840EC19049C}"/>
              </a:ext>
            </a:extLst>
          </p:cNvPr>
          <p:cNvSpPr>
            <a:spLocks noGrp="1"/>
          </p:cNvSpPr>
          <p:nvPr/>
        </p:nvSpPr>
        <p:spPr>
          <a:xfrm>
            <a:off x="6515100" y="4019550"/>
            <a:ext cx="4876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3C6E9E"/>
                </a:solidFill>
                <a:latin typeface="Helvetica Neue"/>
                <a:ea typeface="Helvetica Neue"/>
                <a:cs typeface="Helvetica Neue"/>
              </a:defRPr>
            </a:pPr>
            <a:r>
              <a:t>Dashboard koordinator: statistik &amp; daftar work order</a:t>
            </a:r>
          </a:p>
        </p:txBody>
      </p:sp>
      <p:sp>
        <p:nvSpPr>
          <p:cNvPr id="9" name="s3-shot-hint">
            <a:extLst>
              <a:ext uri="{FF2B5EF4-FFF2-40B4-BE49-F238E27FC236}">
                <a16:creationId xmlns:a16="http://schemas.microsoft.com/office/drawing/2014/main" id="{7933B7AF-3C2C-48D1-9DEF-5A11736321E2}"/>
              </a:ext>
            </a:extLst>
          </p:cNvPr>
          <p:cNvSpPr>
            <a:spLocks noGrp="1"/>
          </p:cNvSpPr>
          <p:nvPr/>
        </p:nvSpPr>
        <p:spPr>
          <a:xfrm>
            <a:off x="6515100" y="5543550"/>
            <a:ext cx="487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900" b="0">
                <a:solidFill>
                  <a:srgbClr val="6E8FB0"/>
                </a:solidFill>
                <a:latin typeface="Helvetica Neue"/>
                <a:ea typeface="Helvetica Neue"/>
                <a:cs typeface="Helvetica Neue"/>
              </a:defRPr>
            </a:pPr>
            <a:r>
              <a:t>Tempel gambar di area ini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5924CC-86D0-F539-17D7-DF99E8500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1" y="1995947"/>
            <a:ext cx="6286500" cy="397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80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4632FFE0-A1A1-4695-A676-E8485667971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WEB ADMIN · INPUT SPK BARU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46FDDD6-7A88-4418-AA5F-FAC1E519DA00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Data terisi dari SPK, koordinator cukup melengkapi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75E0A875-D9CE-4853-B134-B43D778FE471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5EA645A-927D-4A8F-A877-253E4BB09F62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s4-left">
            <a:extLst>
              <a:ext uri="{FF2B5EF4-FFF2-40B4-BE49-F238E27FC236}">
                <a16:creationId xmlns:a16="http://schemas.microsoft.com/office/drawing/2014/main" id="{2646D03A-0F1B-48EC-A336-44A52436278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Cari SPK — </a:t>
            </a:r>
            <a:r>
              <a:rPr>
                <a:solidFill>
                  <a:srgbClr val="333D4C"/>
                </a:solidFill>
              </a:rPr>
              <a:t>nomor work order memakai field spk_no dari data sales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Jadwal pasang — </a:t>
            </a:r>
            <a:r>
              <a:rPr>
                <a:solidFill>
                  <a:srgbClr val="333D4C"/>
                </a:solidFill>
              </a:rPr>
              <a:t>pilih tanggal &amp; jam, langsung terisi data customer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Lokasi — </a:t>
            </a:r>
            <a:r>
              <a:rPr>
                <a:solidFill>
                  <a:srgbClr val="333D4C"/>
                </a:solidFill>
              </a:rPr>
              <a:t>pin point di peta atau cari alamat, alamat otomatis terisi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Teknisi — </a:t>
            </a:r>
            <a:r>
              <a:rPr>
                <a:solidFill>
                  <a:srgbClr val="333D4C"/>
                </a:solidFill>
              </a:rPr>
              <a:t>pilih satu atau lebih teknisi yang akan ditugaskan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Item pekerjaan — </a:t>
            </a:r>
            <a:r>
              <a:rPr>
                <a:solidFill>
                  <a:srgbClr val="333D4C"/>
                </a:solidFill>
              </a:rPr>
              <a:t>jenis film (window film) tampil dari data SPK</a:t>
            </a:r>
          </a:p>
        </p:txBody>
      </p:sp>
      <p:sp>
        <p:nvSpPr>
          <p:cNvPr id="6" name="s4-shot">
            <a:extLst>
              <a:ext uri="{FF2B5EF4-FFF2-40B4-BE49-F238E27FC236}">
                <a16:creationId xmlns:a16="http://schemas.microsoft.com/office/drawing/2014/main" id="{E7FF12CB-DA49-44AF-8C17-717300BFAB17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429250" cy="4000500"/>
          </a:xfrm>
          <a:prstGeom prst="roundRect">
            <a:avLst>
              <a:gd name="adj" fmla="val 2857"/>
            </a:avLst>
          </a:prstGeom>
          <a:solidFill>
            <a:srgbClr val="EAF5FB"/>
          </a:solidFill>
          <a:ln w="9525">
            <a:solidFill>
              <a:srgbClr val="9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4-shot-label">
            <a:extLst>
              <a:ext uri="{FF2B5EF4-FFF2-40B4-BE49-F238E27FC236}">
                <a16:creationId xmlns:a16="http://schemas.microsoft.com/office/drawing/2014/main" id="{CDA47424-AA3C-4E7F-96AF-C6378E7A4F23}"/>
              </a:ext>
            </a:extLst>
          </p:cNvPr>
          <p:cNvSpPr>
            <a:spLocks noGrp="1"/>
          </p:cNvSpPr>
          <p:nvPr/>
        </p:nvSpPr>
        <p:spPr>
          <a:xfrm>
            <a:off x="6191250" y="369570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200" b="1">
                <a:solidFill>
                  <a:srgbClr val="2B5E8C"/>
                </a:solidFill>
                <a:latin typeface="Helvetica Neue"/>
                <a:ea typeface="Helvetica Neue"/>
                <a:cs typeface="Helvetica Neue"/>
              </a:defRPr>
            </a:pPr>
            <a:r>
              <a:t>TEMPAT SCREENSHOT</a:t>
            </a:r>
          </a:p>
        </p:txBody>
      </p:sp>
      <p:sp>
        <p:nvSpPr>
          <p:cNvPr id="8" name="s4-shot-sub">
            <a:extLst>
              <a:ext uri="{FF2B5EF4-FFF2-40B4-BE49-F238E27FC236}">
                <a16:creationId xmlns:a16="http://schemas.microsoft.com/office/drawing/2014/main" id="{65D26C55-37C2-44D2-8F7B-E1B6C3DE99EE}"/>
              </a:ext>
            </a:extLst>
          </p:cNvPr>
          <p:cNvSpPr>
            <a:spLocks noGrp="1"/>
          </p:cNvSpPr>
          <p:nvPr/>
        </p:nvSpPr>
        <p:spPr>
          <a:xfrm>
            <a:off x="6419850" y="4114800"/>
            <a:ext cx="497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3C6E9E"/>
                </a:solidFill>
                <a:latin typeface="Helvetica Neue"/>
                <a:ea typeface="Helvetica Neue"/>
                <a:cs typeface="Helvetica Neue"/>
              </a:defRPr>
            </a:pPr>
            <a:r>
              <a:t>Form input SPK baru: hasil pencarian SPK + peta pin lokasi</a:t>
            </a:r>
          </a:p>
        </p:txBody>
      </p:sp>
      <p:sp>
        <p:nvSpPr>
          <p:cNvPr id="9" name="s4-shot-hint">
            <a:extLst>
              <a:ext uri="{FF2B5EF4-FFF2-40B4-BE49-F238E27FC236}">
                <a16:creationId xmlns:a16="http://schemas.microsoft.com/office/drawing/2014/main" id="{65D27D62-3E23-489A-A654-AB61D1EE3B69}"/>
              </a:ext>
            </a:extLst>
          </p:cNvPr>
          <p:cNvSpPr>
            <a:spLocks noGrp="1"/>
          </p:cNvSpPr>
          <p:nvPr/>
        </p:nvSpPr>
        <p:spPr>
          <a:xfrm>
            <a:off x="6419850" y="5734050"/>
            <a:ext cx="497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900" b="0">
                <a:solidFill>
                  <a:srgbClr val="6E8FB0"/>
                </a:solidFill>
                <a:latin typeface="Helvetica Neue"/>
                <a:ea typeface="Helvetica Neue"/>
                <a:cs typeface="Helvetica Neue"/>
              </a:defRPr>
            </a:pPr>
            <a:r>
              <a:t>Tempel gambar di area ini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981E6F-493A-B4EF-3232-877AFD159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323" y="1904901"/>
            <a:ext cx="5807177" cy="436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7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D12253FA-FD40-4C86-AA91-FB59FC67A63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WEB ADMIN · DETAIL &amp; EDIT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BEECCFA-EC8E-438F-B84D-1D722C3620D4}"/>
              </a:ext>
            </a:extLst>
          </p:cNvPr>
          <p:cNvSpPr>
            <a:spLocks noGrp="1"/>
          </p:cNvSpPr>
          <p:nvPr/>
        </p:nvSpPr>
        <p:spPr>
          <a:xfrm>
            <a:off x="609599" y="762000"/>
            <a:ext cx="11239501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Work order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dikoreksi</a:t>
            </a:r>
            <a:r>
              <a:rPr dirty="0"/>
              <a:t> </a:t>
            </a:r>
            <a:r>
              <a:rPr dirty="0" err="1"/>
              <a:t>tanpa</a:t>
            </a:r>
            <a:r>
              <a:rPr dirty="0"/>
              <a:t> </a:t>
            </a:r>
            <a:r>
              <a:rPr dirty="0" err="1"/>
              <a:t>mengubah</a:t>
            </a:r>
            <a:r>
              <a:rPr dirty="0"/>
              <a:t> </a:t>
            </a:r>
            <a:r>
              <a:rPr dirty="0" err="1"/>
              <a:t>nomor</a:t>
            </a:r>
            <a:r>
              <a:rPr dirty="0"/>
              <a:t> SPK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87DBFCB9-895D-43D4-86F8-EB19B3A2BA2C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EC64054-20F4-4759-8A61-10EB17745CFA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s5-left">
            <a:extLst>
              <a:ext uri="{FF2B5EF4-FFF2-40B4-BE49-F238E27FC236}">
                <a16:creationId xmlns:a16="http://schemas.microsoft.com/office/drawing/2014/main" id="{1D48D5D2-A9D7-4AC8-826C-7787F06C9A76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Info lengkap — </a:t>
            </a:r>
            <a:r>
              <a:rPr>
                <a:solidFill>
                  <a:srgbClr val="333D4C"/>
                </a:solidFill>
              </a:rPr>
              <a:t>customer, jadwal, item pekerjaan, status &amp; riwayat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Edit jadwal — </a:t>
            </a:r>
            <a:r>
              <a:rPr>
                <a:solidFill>
                  <a:srgbClr val="333D4C"/>
                </a:solidFill>
              </a:rPr>
              <a:t>tanggal dan jam memakai picker yang konsisten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Pin lokasi — </a:t>
            </a:r>
            <a:r>
              <a:rPr>
                <a:solidFill>
                  <a:srgbClr val="333D4C"/>
                </a:solidFill>
              </a:rPr>
              <a:t>geser pin di peta, alamat ikut ter-update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Ganti teknisi — </a:t>
            </a:r>
            <a:r>
              <a:rPr>
                <a:solidFill>
                  <a:srgbClr val="333D4C"/>
                </a:solidFill>
              </a:rPr>
              <a:t>tambah teknisi baru; yang sudah menerima tidak bisa dihapus</a:t>
            </a:r>
          </a:p>
        </p:txBody>
      </p:sp>
      <p:sp>
        <p:nvSpPr>
          <p:cNvPr id="6" name="s5-shot">
            <a:extLst>
              <a:ext uri="{FF2B5EF4-FFF2-40B4-BE49-F238E27FC236}">
                <a16:creationId xmlns:a16="http://schemas.microsoft.com/office/drawing/2014/main" id="{7AF37C87-8E5B-4976-9037-DB3191E947C4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429250" cy="4000500"/>
          </a:xfrm>
          <a:prstGeom prst="roundRect">
            <a:avLst>
              <a:gd name="adj" fmla="val 2857"/>
            </a:avLst>
          </a:prstGeom>
          <a:solidFill>
            <a:srgbClr val="EAF5FB"/>
          </a:solidFill>
          <a:ln w="9525">
            <a:solidFill>
              <a:srgbClr val="9CC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5-shot-label">
            <a:extLst>
              <a:ext uri="{FF2B5EF4-FFF2-40B4-BE49-F238E27FC236}">
                <a16:creationId xmlns:a16="http://schemas.microsoft.com/office/drawing/2014/main" id="{25AEDDF0-D9C8-40D3-970D-4F24C4B5CBDB}"/>
              </a:ext>
            </a:extLst>
          </p:cNvPr>
          <p:cNvSpPr>
            <a:spLocks noGrp="1"/>
          </p:cNvSpPr>
          <p:nvPr/>
        </p:nvSpPr>
        <p:spPr>
          <a:xfrm>
            <a:off x="6191250" y="369570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200" b="1">
                <a:solidFill>
                  <a:srgbClr val="2B5E8C"/>
                </a:solidFill>
                <a:latin typeface="Helvetica Neue"/>
                <a:ea typeface="Helvetica Neue"/>
                <a:cs typeface="Helvetica Neue"/>
              </a:defRPr>
            </a:pPr>
            <a:r>
              <a:t>TEMPAT SCREENSHOT</a:t>
            </a:r>
          </a:p>
        </p:txBody>
      </p:sp>
      <p:sp>
        <p:nvSpPr>
          <p:cNvPr id="8" name="s5-shot-sub">
            <a:extLst>
              <a:ext uri="{FF2B5EF4-FFF2-40B4-BE49-F238E27FC236}">
                <a16:creationId xmlns:a16="http://schemas.microsoft.com/office/drawing/2014/main" id="{60542663-2B95-4519-811A-F696F13238A7}"/>
              </a:ext>
            </a:extLst>
          </p:cNvPr>
          <p:cNvSpPr>
            <a:spLocks noGrp="1"/>
          </p:cNvSpPr>
          <p:nvPr/>
        </p:nvSpPr>
        <p:spPr>
          <a:xfrm>
            <a:off x="6419850" y="4114800"/>
            <a:ext cx="497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3C6E9E"/>
                </a:solidFill>
                <a:latin typeface="Helvetica Neue"/>
                <a:ea typeface="Helvetica Neue"/>
                <a:cs typeface="Helvetica Neue"/>
              </a:defRPr>
            </a:pPr>
            <a:r>
              <a:t>Halaman detail WO + modal edit (tanggal/jam, peta, daftar teknisi)</a:t>
            </a:r>
          </a:p>
        </p:txBody>
      </p:sp>
      <p:sp>
        <p:nvSpPr>
          <p:cNvPr id="9" name="s5-shot-hint">
            <a:extLst>
              <a:ext uri="{FF2B5EF4-FFF2-40B4-BE49-F238E27FC236}">
                <a16:creationId xmlns:a16="http://schemas.microsoft.com/office/drawing/2014/main" id="{A180D789-CC20-4DB1-A2F8-3BF27C5C60DA}"/>
              </a:ext>
            </a:extLst>
          </p:cNvPr>
          <p:cNvSpPr>
            <a:spLocks noGrp="1"/>
          </p:cNvSpPr>
          <p:nvPr/>
        </p:nvSpPr>
        <p:spPr>
          <a:xfrm>
            <a:off x="6419850" y="5734050"/>
            <a:ext cx="497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900" b="0">
                <a:solidFill>
                  <a:srgbClr val="6E8FB0"/>
                </a:solidFill>
                <a:latin typeface="Helvetica Neue"/>
                <a:ea typeface="Helvetica Neue"/>
                <a:cs typeface="Helvetica Neue"/>
              </a:defRPr>
            </a:pPr>
            <a:r>
              <a:t>Tempel gambar di area ini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BFE005-FAD7-095B-524F-ABD0190AF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708" y="1847850"/>
            <a:ext cx="5951792" cy="44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3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93F9EDE0-3DD4-4608-B9F0-07A61A6D0D1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WEB ADMIN · NOTIFIKASI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5F5F41F-2F1B-4FCE-B284-4A45829094AD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Tugas baru langsung sampai ke teknisi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9BCCC5DB-2B18-4B4C-B65D-046284B0544D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89DB7F02-98B5-42AC-B43A-617DE29E9E47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s6-left">
            <a:extLst>
              <a:ext uri="{FF2B5EF4-FFF2-40B4-BE49-F238E27FC236}">
                <a16:creationId xmlns:a16="http://schemas.microsoft.com/office/drawing/2014/main" id="{6338C15C-C83D-4315-9AC4-2320FDF3371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Push ke APK — </a:t>
            </a:r>
            <a:r>
              <a:rPr>
                <a:solidFill>
                  <a:srgbClr val="333D4C"/>
                </a:solidFill>
              </a:rPr>
              <a:t>teknisi dapat notifikasi tugas baru lewat FCM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WhatsApp — </a:t>
            </a:r>
            <a:r>
              <a:rPr>
                <a:solidFill>
                  <a:srgbClr val="333D4C"/>
                </a:solidFill>
              </a:rPr>
              <a:t>pengiriman otomatis lewat gateway WA perusahaan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Email — </a:t>
            </a:r>
            <a:r>
              <a:rPr>
                <a:solidFill>
                  <a:srgbClr val="333D4C"/>
                </a:solidFill>
              </a:rPr>
              <a:t>notifikasi status penting terkirim ke email terdaftar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Transparan — </a:t>
            </a:r>
            <a:r>
              <a:rPr>
                <a:solidFill>
                  <a:srgbClr val="333D4C"/>
                </a:solidFill>
              </a:rPr>
              <a:t>koordinator melihat siapa yang sudah merespons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5F6C4B-A615-1A8D-61A1-432F17478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878" y="1847849"/>
            <a:ext cx="2639723" cy="48128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1D5E1E-02E4-907B-E785-2B18E55B6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630" y="1847848"/>
            <a:ext cx="2226283" cy="481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34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CC3E87DE-8740-4EAD-A094-A3FCD8C7F2F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BAGIAN 2 · APLIKASI TEKNISI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21F1714-38A7-41F8-AAE0-B6A0B151855B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Login aman dan cepat untuk kerja di lapangan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06FC15DF-C931-4A55-810A-5EA6DDC3E93F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8A2984B-5763-4C05-9341-EDFEBBCE4EA0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s7-left">
            <a:extLst>
              <a:ext uri="{FF2B5EF4-FFF2-40B4-BE49-F238E27FC236}">
                <a16:creationId xmlns:a16="http://schemas.microsoft.com/office/drawing/2014/main" id="{1D9F40DC-EF32-4CCC-A1BA-C805B719426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Email &amp; password — </a:t>
            </a:r>
            <a:r>
              <a:rPr>
                <a:solidFill>
                  <a:srgbClr val="333D4C"/>
                </a:solidFill>
              </a:rPr>
              <a:t>login standar dengan default password yang bisa diganti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PIN 6 digit — </a:t>
            </a:r>
            <a:r>
              <a:rPr>
                <a:solidFill>
                  <a:srgbClr val="333D4C"/>
                </a:solidFill>
              </a:rPr>
              <a:t>verifikasi cepat setelah login pertama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Biometrik — </a:t>
            </a:r>
            <a:r>
              <a:rPr>
                <a:solidFill>
                  <a:srgbClr val="333D4C"/>
                </a:solidFill>
              </a:rPr>
              <a:t>sidik jari tersedia di perangkat Android pendukung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Kunci layar — </a:t>
            </a:r>
            <a:r>
              <a:rPr>
                <a:solidFill>
                  <a:srgbClr val="333D4C"/>
                </a:solidFill>
              </a:rPr>
              <a:t>aplikasi tetap aman saat berpindah tangan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AE9AF3-123A-B1AE-7606-431CFD6C9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32" y="1834945"/>
            <a:ext cx="2466270" cy="48325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248C6A-EFD4-38E7-32FA-54E944D7F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476" y="1847851"/>
            <a:ext cx="2466330" cy="481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34909E4D-DC09-4B16-9AC3-A533BB281F1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APLIKASI TEKNISI · KONFIRMASI TUGAS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A3887B7-6B02-4968-9C8E-31213B345965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Teknisi memutuskan: terima atau tolak dengan alasan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93BE11F4-E610-4919-93B3-99D8A08FFAFD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F7CAA1D5-A854-4A22-804A-81750B2A0631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5" name="s8-left">
            <a:extLst>
              <a:ext uri="{FF2B5EF4-FFF2-40B4-BE49-F238E27FC236}">
                <a16:creationId xmlns:a16="http://schemas.microsoft.com/office/drawing/2014/main" id="{14E54110-394B-433C-B2B9-E72870BAC8D5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Menunggu konfirmasi — </a:t>
            </a:r>
            <a:r>
              <a:rPr>
                <a:solidFill>
                  <a:srgbClr val="333D4C"/>
                </a:solidFill>
              </a:rPr>
              <a:t>list hanya menampilkan tugas yang belum direspons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Terima — </a:t>
            </a:r>
            <a:r>
              <a:rPr>
                <a:solidFill>
                  <a:srgbClr val="333D4C"/>
                </a:solidFill>
              </a:rPr>
              <a:t>tugas otomatis menjadi milik teknisi tersebut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Tolak — </a:t>
            </a:r>
            <a:r>
              <a:rPr>
                <a:solidFill>
                  <a:srgbClr val="333D4C"/>
                </a:solidFill>
              </a:rPr>
              <a:t>wajib pilih alasan, rekan teknisi lain diberi kesempatan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Anti dobel — </a:t>
            </a:r>
            <a:r>
              <a:rPr>
                <a:solidFill>
                  <a:srgbClr val="333D4C"/>
                </a:solidFill>
              </a:rPr>
              <a:t>jika sudah diambil rekan, tugas lama otomatis dibatalkan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A94F1E-E34E-D11D-0955-DAE932F3A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387" y="1847851"/>
            <a:ext cx="2445049" cy="48037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FA0D91-3A96-33BB-3D7B-3747A3242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933" y="1847851"/>
            <a:ext cx="2448308" cy="480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51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DE6F9446-106F-4687-A8A2-5CFFCECB60B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APLIKASI TEKNISI · PERJALANAN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0522680-803B-4AD7-9A08-2E6D31485830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Begitu berangkat, posisi teknisi terpantau real-time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AF33B83D-EE9E-4AD3-83D4-4E8985FC1C0F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D2E0E395-9BAA-4505-BEA1-518DBE499367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s9-left">
            <a:extLst>
              <a:ext uri="{FF2B5EF4-FFF2-40B4-BE49-F238E27FC236}">
                <a16:creationId xmlns:a16="http://schemas.microsoft.com/office/drawing/2014/main" id="{EBFBE2E6-36FC-4D0D-9702-EEA6D7CCE0E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Mulai perjalanan — </a:t>
            </a:r>
            <a:r>
              <a:rPr>
                <a:solidFill>
                  <a:srgbClr val="333D4C"/>
                </a:solidFill>
              </a:rPr>
              <a:t>satu ketukan, status berubah otomatis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GPS aktif — </a:t>
            </a:r>
            <a:r>
              <a:rPr>
                <a:solidFill>
                  <a:srgbClr val="333D4C"/>
                </a:solidFill>
              </a:rPr>
              <a:t>lokasi terkirim berkala, layar tetap menyala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Link tracking — </a:t>
            </a:r>
            <a:r>
              <a:rPr>
                <a:solidFill>
                  <a:srgbClr val="333D4C"/>
                </a:solidFill>
              </a:rPr>
              <a:t>WhatsApp terkirim ke customer untuk memantau perjalanan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Keep awake — </a:t>
            </a:r>
            <a:r>
              <a:rPr>
                <a:solidFill>
                  <a:srgbClr val="333D4C"/>
                </a:solidFill>
              </a:rPr>
              <a:t>lokasi tetap terkirim walau layar terkunci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3C0E84-E827-D435-CBB3-52852C7BD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988" y="1905000"/>
            <a:ext cx="2433874" cy="4762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DFC1A-389F-4596-0F2E-6FE910247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504" y="1905000"/>
            <a:ext cx="2378096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3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A44652E3-D6AF-4F86-878D-F6D1D477605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APLIKASI TEKNISI · PEMASANGAN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7A93257-0B07-42E3-BD9F-0738762FE6D9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Status tiba dan pemasangan tercatat di work order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19518D89-A9B0-415A-81E1-09B1585C9F8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F1FBEA5-DAB5-401E-B79F-67FA418B7561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s10-left">
            <a:extLst>
              <a:ext uri="{FF2B5EF4-FFF2-40B4-BE49-F238E27FC236}">
                <a16:creationId xmlns:a16="http://schemas.microsoft.com/office/drawing/2014/main" id="{D587AD0D-2D9E-4206-A8EB-D6038B19776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Saya sudah tiba — </a:t>
            </a:r>
            <a:r>
              <a:rPr>
                <a:solidFill>
                  <a:srgbClr val="333D4C"/>
                </a:solidFill>
              </a:rPr>
              <a:t>konfirmasi lokasi dengan sekali klik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Mulai pemasangan — </a:t>
            </a:r>
            <a:r>
              <a:rPr>
                <a:solidFill>
                  <a:srgbClr val="333D4C"/>
                </a:solidFill>
              </a:rPr>
              <a:t>status berubah otomatis dan terlihat koordinator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Info pekerjaan — </a:t>
            </a:r>
            <a:r>
              <a:rPr>
                <a:solidFill>
                  <a:srgbClr val="333D4C"/>
                </a:solidFill>
              </a:rPr>
              <a:t>item pekerjaan &amp; jenis film tampil di aplikasi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Notifikasi lanjutan — </a:t>
            </a:r>
            <a:r>
              <a:rPr>
                <a:solidFill>
                  <a:srgbClr val="333D4C"/>
                </a:solidFill>
              </a:rPr>
              <a:t>koordinator &amp; customer mendapat update status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350944-093A-834E-F28A-F259135FD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95" y="1847851"/>
            <a:ext cx="2222940" cy="481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77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C220E242-383B-482C-8264-91C84EA9AC5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APLIKASI TEKNISI · SELESAI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888B70D-BD57-4008-BEA6-0F926BF3A0C3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Foto bukti wajib sebelum pekerjaan ditutup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1E1A5F86-BA50-45E2-8681-2AC88240BCE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6ACEE15-BD01-4B6B-8738-FA4A94A5FC1A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s11-left">
            <a:extLst>
              <a:ext uri="{FF2B5EF4-FFF2-40B4-BE49-F238E27FC236}">
                <a16:creationId xmlns:a16="http://schemas.microsoft.com/office/drawing/2014/main" id="{865C53C8-61CC-4BD6-A4CC-1D44350CA1A8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dirty="0">
                <a:solidFill>
                  <a:srgbClr val="111111"/>
                </a:solidFill>
              </a:rPr>
              <a:t>Foto </a:t>
            </a:r>
            <a:r>
              <a:rPr b="1" dirty="0" err="1">
                <a:solidFill>
                  <a:srgbClr val="111111"/>
                </a:solidFill>
              </a:rPr>
              <a:t>bukti</a:t>
            </a:r>
            <a:r>
              <a:rPr b="1" dirty="0">
                <a:solidFill>
                  <a:srgbClr val="111111"/>
                </a:solidFill>
              </a:rPr>
              <a:t> — </a:t>
            </a:r>
            <a:r>
              <a:rPr dirty="0" err="1">
                <a:solidFill>
                  <a:srgbClr val="333D4C"/>
                </a:solidFill>
              </a:rPr>
              <a:t>lebih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dari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satu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foto</a:t>
            </a:r>
            <a:r>
              <a:rPr lang="en-US" dirty="0">
                <a:solidFill>
                  <a:srgbClr val="333D4C"/>
                </a:solidFill>
              </a:rPr>
              <a:t> ( max 5 </a:t>
            </a:r>
            <a:r>
              <a:rPr lang="en-US" dirty="0" err="1">
                <a:solidFill>
                  <a:srgbClr val="333D4C"/>
                </a:solidFill>
              </a:rPr>
              <a:t>foto</a:t>
            </a:r>
            <a:r>
              <a:rPr lang="en-US" dirty="0">
                <a:solidFill>
                  <a:srgbClr val="333D4C"/>
                </a:solidFill>
              </a:rPr>
              <a:t> )</a:t>
            </a:r>
            <a:r>
              <a:rPr dirty="0">
                <a:solidFill>
                  <a:srgbClr val="333D4C"/>
                </a:solidFill>
              </a:rPr>
              <a:t>, </a:t>
            </a:r>
            <a:r>
              <a:rPr dirty="0" err="1">
                <a:solidFill>
                  <a:srgbClr val="333D4C"/>
                </a:solidFill>
              </a:rPr>
              <a:t>wajib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ada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sebelum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selesai</a:t>
            </a:r>
            <a:endParaRPr dirty="0">
              <a:solidFill>
                <a:srgbClr val="333D4C"/>
              </a:solidFill>
            </a:endParaRP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dirty="0" err="1">
                <a:solidFill>
                  <a:srgbClr val="111111"/>
                </a:solidFill>
              </a:rPr>
              <a:t>Catatan</a:t>
            </a:r>
            <a:r>
              <a:rPr b="1" dirty="0">
                <a:solidFill>
                  <a:srgbClr val="111111"/>
                </a:solidFill>
              </a:rPr>
              <a:t> — </a:t>
            </a:r>
            <a:r>
              <a:rPr dirty="0" err="1">
                <a:solidFill>
                  <a:srgbClr val="333D4C"/>
                </a:solidFill>
              </a:rPr>
              <a:t>teknisi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bisa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menambahkan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keterangan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hasil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pekerjaan</a:t>
            </a:r>
            <a:endParaRPr dirty="0">
              <a:solidFill>
                <a:srgbClr val="333D4C"/>
              </a:solidFill>
            </a:endParaRP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dirty="0">
                <a:solidFill>
                  <a:srgbClr val="111111"/>
                </a:solidFill>
              </a:rPr>
              <a:t>Status </a:t>
            </a:r>
            <a:r>
              <a:rPr b="1" dirty="0" err="1">
                <a:solidFill>
                  <a:srgbClr val="111111"/>
                </a:solidFill>
              </a:rPr>
              <a:t>akhir</a:t>
            </a:r>
            <a:r>
              <a:rPr b="1" dirty="0">
                <a:solidFill>
                  <a:srgbClr val="111111"/>
                </a:solidFill>
              </a:rPr>
              <a:t> — </a:t>
            </a:r>
            <a:r>
              <a:rPr dirty="0">
                <a:solidFill>
                  <a:srgbClr val="333D4C"/>
                </a:solidFill>
              </a:rPr>
              <a:t>work order </a:t>
            </a:r>
            <a:r>
              <a:rPr dirty="0" err="1">
                <a:solidFill>
                  <a:srgbClr val="333D4C"/>
                </a:solidFill>
              </a:rPr>
              <a:t>selesai</a:t>
            </a:r>
            <a:r>
              <a:rPr dirty="0">
                <a:solidFill>
                  <a:srgbClr val="333D4C"/>
                </a:solidFill>
              </a:rPr>
              <a:t>, </a:t>
            </a:r>
            <a:r>
              <a:rPr dirty="0" err="1">
                <a:solidFill>
                  <a:srgbClr val="333D4C"/>
                </a:solidFill>
              </a:rPr>
              <a:t>riwayat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lengkap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tersimpan</a:t>
            </a:r>
            <a:endParaRPr dirty="0">
              <a:solidFill>
                <a:srgbClr val="333D4C"/>
              </a:solidFill>
            </a:endParaRP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 dirty="0">
                <a:solidFill>
                  <a:srgbClr val="111111"/>
                </a:solidFill>
              </a:rPr>
              <a:t>Link tracking — </a:t>
            </a:r>
            <a:r>
              <a:rPr dirty="0" err="1">
                <a:solidFill>
                  <a:srgbClr val="333D4C"/>
                </a:solidFill>
              </a:rPr>
              <a:t>tetap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bisa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diakses</a:t>
            </a:r>
            <a:r>
              <a:rPr dirty="0">
                <a:solidFill>
                  <a:srgbClr val="333D4C"/>
                </a:solidFill>
              </a:rPr>
              <a:t> 24 jam </a:t>
            </a:r>
            <a:r>
              <a:rPr dirty="0" err="1">
                <a:solidFill>
                  <a:srgbClr val="333D4C"/>
                </a:solidFill>
              </a:rPr>
              <a:t>setelah</a:t>
            </a:r>
            <a:r>
              <a:rPr dirty="0">
                <a:solidFill>
                  <a:srgbClr val="333D4C"/>
                </a:solidFill>
              </a:rPr>
              <a:t> </a:t>
            </a:r>
            <a:r>
              <a:rPr dirty="0" err="1">
                <a:solidFill>
                  <a:srgbClr val="333D4C"/>
                </a:solidFill>
              </a:rPr>
              <a:t>selesai</a:t>
            </a:r>
            <a:endParaRPr dirty="0">
              <a:solidFill>
                <a:srgbClr val="333D4C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44156F-6EBD-F1CA-EF03-14623B80A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67" y="1790700"/>
            <a:ext cx="2427169" cy="4762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DFDC66-A4A5-A4FD-3419-E62A4DD02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083" y="1790700"/>
            <a:ext cx="2430517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>
            <a:extLst>
              <a:ext uri="{FF2B5EF4-FFF2-40B4-BE49-F238E27FC236}">
                <a16:creationId xmlns:a16="http://schemas.microsoft.com/office/drawing/2014/main" id="{E575F3B1-6BB7-4334-A8D2-CB807D69C45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UNTUK CUSTOMER · LIVE TRACKING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FF7DA4F-886B-4F73-B85A-C794133BCB09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Customer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dirty="0"/>
              <a:t> </a:t>
            </a:r>
            <a:r>
              <a:rPr lang="en-US" dirty="0" err="1"/>
              <a:t>posisi</a:t>
            </a:r>
            <a:r>
              <a:rPr lang="en-US" dirty="0"/>
              <a:t> </a:t>
            </a:r>
            <a:r>
              <a:rPr lang="en-US" dirty="0" err="1"/>
              <a:t>Teknisi</a:t>
            </a:r>
            <a:endParaRPr dirty="0"/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141185EE-E9D6-43AE-98BB-ED95353936B2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78CC5C4-1948-45C7-B5E0-CC263FF07195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5" name="s12-left">
            <a:extLst>
              <a:ext uri="{FF2B5EF4-FFF2-40B4-BE49-F238E27FC236}">
                <a16:creationId xmlns:a16="http://schemas.microsoft.com/office/drawing/2014/main" id="{BCF9472E-DE1E-466B-8ED7-8AB9135F0AF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0482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Link via WhatsApp — </a:t>
            </a:r>
            <a:r>
              <a:rPr>
                <a:solidFill>
                  <a:srgbClr val="333D4C"/>
                </a:solidFill>
              </a:rPr>
              <a:t>customer membuka tracking tanpa aplikasi tambahan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Peta live — </a:t>
            </a:r>
            <a:r>
              <a:rPr>
                <a:solidFill>
                  <a:srgbClr val="333D4C"/>
                </a:solidFill>
              </a:rPr>
              <a:t>posisi teknisi, rute perjalanan &amp; perkiraan tiba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Update otomatis — </a:t>
            </a:r>
            <a:r>
              <a:rPr>
                <a:solidFill>
                  <a:srgbClr val="333D4C"/>
                </a:solidFill>
              </a:rPr>
              <a:t>halaman ter-refresh real-time saat posisi berubah</a:t>
            </a:r>
          </a:p>
          <a:p>
            <a:pPr marL="26" indent="-16" algn="l">
              <a:spcAft>
                <a:spcPts val="900"/>
              </a:spcAft>
              <a:buChar char="•"/>
              <a:defRPr sz="1425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11111"/>
                </a:solidFill>
              </a:rPr>
              <a:t>Masa berlaku — </a:t>
            </a:r>
            <a:r>
              <a:rPr>
                <a:solidFill>
                  <a:srgbClr val="333D4C"/>
                </a:solidFill>
              </a:rPr>
              <a:t>token diperpanjang selama perjalanan, 24 jam setelah selesai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0F9910-766B-0C87-74FF-204FF42EB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39162"/>
            <a:ext cx="2180557" cy="47140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F216EC-8310-9C40-7BF0-4A3EA3B34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504" y="1847851"/>
            <a:ext cx="2378096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38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">
            <a:extLst>
              <a:ext uri="{FF2B5EF4-FFF2-40B4-BE49-F238E27FC236}">
                <a16:creationId xmlns:a16="http://schemas.microsoft.com/office/drawing/2014/main" id="{E72470CD-33A9-4C3A-A8CC-F2F5C845BE0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RINGKASAN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F2FAB37-D359-4238-A064-2E44757A0A6B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Status work order dari awal sampai selesai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7C3235F2-C951-4276-82CB-819C96227C7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F884882-B65A-4889-91D3-755E5750FA33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609600" y="2000250"/>
          <a:ext cx="10972800" cy="2103120"/>
        </p:xfrm>
        <a:graphic>
          <a:graphicData uri="http://schemas.openxmlformats.org/drawingml/2006/table">
            <a:tbl>
              <a:tblPr/>
              <a:tblGrid>
                <a:gridCol w="2351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8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Arti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Notifikasi / aksi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Menunggu Konfirmasi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Tugas baru belum direspons teknisi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Push + WA ke teknisi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Tugas Diterima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Teknisi setuju mengerjakan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Info ke koordinator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Perjalanan Dimulai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Teknisi menuju lokasi, GPS aktif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Link tracking ke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Sudah Tiba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Teknisi sampai di lokasi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Update status otomatis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Sedang Pemasangan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Pengerjaan berlangsung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Update status otomatis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Selesai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Pekerjaan tuntas + foto bukti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D4C"/>
                          </a:solidFill>
                        </a:rPr>
                        <a:t>Riwayat lengkap tersimpan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699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>
            <a:extLst>
              <a:ext uri="{FF2B5EF4-FFF2-40B4-BE49-F238E27FC236}">
                <a16:creationId xmlns:a16="http://schemas.microsoft.com/office/drawing/2014/main" id="{6194E67F-F8D2-4B9A-84C1-41653A6EDAA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NILAI YANG DIDAPAT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B004A32-441A-4A2E-9237-9ABBAD6760C0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7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Pekerjaan lapangan lebih terpantau dan terdokumentasi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2D8A72E1-246A-486A-8DD9-0900F1441013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0"/>
          </a:xfrm>
          <a:prstGeom prst="line">
            <a:avLst/>
          </a:prstGeom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F0692DF0-5FAE-4CEF-9686-B9712540CAAC}"/>
              </a:ext>
            </a:extLst>
          </p:cNvPr>
          <p:cNvSpPr>
            <a:spLocks noGrp="1"/>
          </p:cNvSpPr>
          <p:nvPr/>
        </p:nvSpPr>
        <p:spPr>
          <a:xfrm>
            <a:off x="11277600" y="64389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r">
              <a:defRPr sz="97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5" name="m-0">
            <a:extLst>
              <a:ext uri="{FF2B5EF4-FFF2-40B4-BE49-F238E27FC236}">
                <a16:creationId xmlns:a16="http://schemas.microsoft.com/office/drawing/2014/main" id="{495FF8F4-40C4-476F-8042-63076331B80E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552700" cy="285750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-big-0">
            <a:extLst>
              <a:ext uri="{FF2B5EF4-FFF2-40B4-BE49-F238E27FC236}">
                <a16:creationId xmlns:a16="http://schemas.microsoft.com/office/drawing/2014/main" id="{AD9F5104-6A0A-4654-A37E-9A6543545609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2171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LIVE</a:t>
            </a:r>
          </a:p>
        </p:txBody>
      </p:sp>
      <p:sp>
        <p:nvSpPr>
          <p:cNvPr id="7" name="m-head-0">
            <a:extLst>
              <a:ext uri="{FF2B5EF4-FFF2-40B4-BE49-F238E27FC236}">
                <a16:creationId xmlns:a16="http://schemas.microsoft.com/office/drawing/2014/main" id="{DA5B8772-C520-4500-BA41-D198AF57A9CF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Posisi teknisi terpantau real-time</a:t>
            </a:r>
          </a:p>
        </p:txBody>
      </p:sp>
      <p:sp>
        <p:nvSpPr>
          <p:cNvPr id="8" name="m-body-0">
            <a:extLst>
              <a:ext uri="{FF2B5EF4-FFF2-40B4-BE49-F238E27FC236}">
                <a16:creationId xmlns:a16="http://schemas.microsoft.com/office/drawing/2014/main" id="{546A76E7-0697-4322-9539-6A05649E0E8E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2171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Tracking &amp; ETA untuk customer</a:t>
            </a:r>
          </a:p>
        </p:txBody>
      </p:sp>
      <p:sp>
        <p:nvSpPr>
          <p:cNvPr id="9" name="m-1">
            <a:extLst>
              <a:ext uri="{FF2B5EF4-FFF2-40B4-BE49-F238E27FC236}">
                <a16:creationId xmlns:a16="http://schemas.microsoft.com/office/drawing/2014/main" id="{BB057F6E-4801-46C5-980F-BFEF7A4AF369}"/>
              </a:ext>
            </a:extLst>
          </p:cNvPr>
          <p:cNvSpPr>
            <a:spLocks noGrp="1"/>
          </p:cNvSpPr>
          <p:nvPr/>
        </p:nvSpPr>
        <p:spPr>
          <a:xfrm>
            <a:off x="3409950" y="2381250"/>
            <a:ext cx="2552700" cy="285750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m-big-1">
            <a:extLst>
              <a:ext uri="{FF2B5EF4-FFF2-40B4-BE49-F238E27FC236}">
                <a16:creationId xmlns:a16="http://schemas.microsoft.com/office/drawing/2014/main" id="{1F385AB7-55DF-4619-BBB6-41E66B2E1CA4}"/>
              </a:ext>
            </a:extLst>
          </p:cNvPr>
          <p:cNvSpPr>
            <a:spLocks noGrp="1"/>
          </p:cNvSpPr>
          <p:nvPr/>
        </p:nvSpPr>
        <p:spPr>
          <a:xfrm>
            <a:off x="3600450" y="2667000"/>
            <a:ext cx="2171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OTOMATIS</a:t>
            </a:r>
          </a:p>
        </p:txBody>
      </p:sp>
      <p:sp>
        <p:nvSpPr>
          <p:cNvPr id="11" name="m-head-1">
            <a:extLst>
              <a:ext uri="{FF2B5EF4-FFF2-40B4-BE49-F238E27FC236}">
                <a16:creationId xmlns:a16="http://schemas.microsoft.com/office/drawing/2014/main" id="{57E0D27A-35F9-47AE-8307-3C24D6019443}"/>
              </a:ext>
            </a:extLst>
          </p:cNvPr>
          <p:cNvSpPr>
            <a:spLocks noGrp="1"/>
          </p:cNvSpPr>
          <p:nvPr/>
        </p:nvSpPr>
        <p:spPr>
          <a:xfrm>
            <a:off x="3600450" y="34290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Notifikasi WA, push &amp; email terkirim sendiri</a:t>
            </a:r>
          </a:p>
        </p:txBody>
      </p:sp>
      <p:sp>
        <p:nvSpPr>
          <p:cNvPr id="12" name="m-body-1">
            <a:extLst>
              <a:ext uri="{FF2B5EF4-FFF2-40B4-BE49-F238E27FC236}">
                <a16:creationId xmlns:a16="http://schemas.microsoft.com/office/drawing/2014/main" id="{B1BBBD8C-1BB0-49D4-9B69-805862AC0A1B}"/>
              </a:ext>
            </a:extLst>
          </p:cNvPr>
          <p:cNvSpPr>
            <a:spLocks noGrp="1"/>
          </p:cNvSpPr>
          <p:nvPr/>
        </p:nvSpPr>
        <p:spPr>
          <a:xfrm>
            <a:off x="3600450" y="4191000"/>
            <a:ext cx="2171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Tanpa telepon manual</a:t>
            </a:r>
          </a:p>
        </p:txBody>
      </p:sp>
      <p:sp>
        <p:nvSpPr>
          <p:cNvPr id="13" name="m-2">
            <a:extLst>
              <a:ext uri="{FF2B5EF4-FFF2-40B4-BE49-F238E27FC236}">
                <a16:creationId xmlns:a16="http://schemas.microsoft.com/office/drawing/2014/main" id="{9F513FEB-59A9-44CD-87F2-4272113E48D4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552700" cy="285750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m-big-2">
            <a:extLst>
              <a:ext uri="{FF2B5EF4-FFF2-40B4-BE49-F238E27FC236}">
                <a16:creationId xmlns:a16="http://schemas.microsoft.com/office/drawing/2014/main" id="{81B9AD52-398C-4BCE-AC11-23D86A3E3F7D}"/>
              </a:ext>
            </a:extLst>
          </p:cNvPr>
          <p:cNvSpPr>
            <a:spLocks noGrp="1"/>
          </p:cNvSpPr>
          <p:nvPr/>
        </p:nvSpPr>
        <p:spPr>
          <a:xfrm>
            <a:off x="6400800" y="2667000"/>
            <a:ext cx="2171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dirty="0"/>
              <a:t>TERCATAT</a:t>
            </a:r>
            <a:endParaRPr dirty="0"/>
          </a:p>
        </p:txBody>
      </p:sp>
      <p:sp>
        <p:nvSpPr>
          <p:cNvPr id="15" name="m-head-2">
            <a:extLst>
              <a:ext uri="{FF2B5EF4-FFF2-40B4-BE49-F238E27FC236}">
                <a16:creationId xmlns:a16="http://schemas.microsoft.com/office/drawing/2014/main" id="{ADE7B2DC-82B0-4C17-A322-B867C41AA696}"/>
              </a:ext>
            </a:extLst>
          </p:cNvPr>
          <p:cNvSpPr>
            <a:spLocks noGrp="1"/>
          </p:cNvSpPr>
          <p:nvPr/>
        </p:nvSpPr>
        <p:spPr>
          <a:xfrm>
            <a:off x="6400800" y="34290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Riwayat status, lokasi &amp; foto tersimpan</a:t>
            </a:r>
          </a:p>
        </p:txBody>
      </p:sp>
      <p:sp>
        <p:nvSpPr>
          <p:cNvPr id="16" name="m-body-2">
            <a:extLst>
              <a:ext uri="{FF2B5EF4-FFF2-40B4-BE49-F238E27FC236}">
                <a16:creationId xmlns:a16="http://schemas.microsoft.com/office/drawing/2014/main" id="{4F1C8880-F122-4D30-A060-8B319742A887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2171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Audit jadi lebih mudah</a:t>
            </a:r>
          </a:p>
        </p:txBody>
      </p:sp>
      <p:sp>
        <p:nvSpPr>
          <p:cNvPr id="17" name="m-3">
            <a:extLst>
              <a:ext uri="{FF2B5EF4-FFF2-40B4-BE49-F238E27FC236}">
                <a16:creationId xmlns:a16="http://schemas.microsoft.com/office/drawing/2014/main" id="{5A862417-D1F8-4811-86A3-01DD240239A4}"/>
              </a:ext>
            </a:extLst>
          </p:cNvPr>
          <p:cNvSpPr>
            <a:spLocks noGrp="1"/>
          </p:cNvSpPr>
          <p:nvPr/>
        </p:nvSpPr>
        <p:spPr>
          <a:xfrm>
            <a:off x="9010650" y="2381250"/>
            <a:ext cx="2552700" cy="285750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m-big-3">
            <a:extLst>
              <a:ext uri="{FF2B5EF4-FFF2-40B4-BE49-F238E27FC236}">
                <a16:creationId xmlns:a16="http://schemas.microsoft.com/office/drawing/2014/main" id="{AA999F55-859F-4BBD-950D-DD8A1DC8548F}"/>
              </a:ext>
            </a:extLst>
          </p:cNvPr>
          <p:cNvSpPr>
            <a:spLocks noGrp="1"/>
          </p:cNvSpPr>
          <p:nvPr/>
        </p:nvSpPr>
        <p:spPr>
          <a:xfrm>
            <a:off x="9152910" y="2667000"/>
            <a:ext cx="226817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TERPUSAT</a:t>
            </a:r>
          </a:p>
        </p:txBody>
      </p:sp>
      <p:sp>
        <p:nvSpPr>
          <p:cNvPr id="19" name="m-head-3">
            <a:extLst>
              <a:ext uri="{FF2B5EF4-FFF2-40B4-BE49-F238E27FC236}">
                <a16:creationId xmlns:a16="http://schemas.microsoft.com/office/drawing/2014/main" id="{407DA721-8A68-4768-9518-001D8ED7720B}"/>
              </a:ext>
            </a:extLst>
          </p:cNvPr>
          <p:cNvSpPr>
            <a:spLocks noGrp="1"/>
          </p:cNvSpPr>
          <p:nvPr/>
        </p:nvSpPr>
        <p:spPr>
          <a:xfrm>
            <a:off x="9201150" y="34290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Data lama &amp; baru terhubung satu sistem</a:t>
            </a:r>
          </a:p>
        </p:txBody>
      </p:sp>
      <p:sp>
        <p:nvSpPr>
          <p:cNvPr id="20" name="m-body-3">
            <a:extLst>
              <a:ext uri="{FF2B5EF4-FFF2-40B4-BE49-F238E27FC236}">
                <a16:creationId xmlns:a16="http://schemas.microsoft.com/office/drawing/2014/main" id="{E6819F5B-B221-45BE-9066-3BD877CCAAC8}"/>
              </a:ext>
            </a:extLst>
          </p:cNvPr>
          <p:cNvSpPr>
            <a:spLocks noGrp="1"/>
          </p:cNvSpPr>
          <p:nvPr/>
        </p:nvSpPr>
        <p:spPr>
          <a:xfrm>
            <a:off x="9201150" y="4191000"/>
            <a:ext cx="2171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125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Master teknisi tetap di database lama</a:t>
            </a:r>
          </a:p>
        </p:txBody>
      </p:sp>
    </p:spTree>
    <p:extLst>
      <p:ext uri="{BB962C8B-B14F-4D97-AF65-F5344CB8AC3E}">
        <p14:creationId xmlns:p14="http://schemas.microsoft.com/office/powerpoint/2010/main" val="1479655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nd-title">
            <a:extLst>
              <a:ext uri="{FF2B5EF4-FFF2-40B4-BE49-F238E27FC236}">
                <a16:creationId xmlns:a16="http://schemas.microsoft.com/office/drawing/2014/main" id="{CBD1E535-FEC4-4646-B187-BE50185831D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4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Satu alur, semua terpantau</a:t>
            </a:r>
          </a:p>
        </p:txBody>
      </p:sp>
      <p:sp>
        <p:nvSpPr>
          <p:cNvPr id="2" name="end-sub">
            <a:extLst>
              <a:ext uri="{FF2B5EF4-FFF2-40B4-BE49-F238E27FC236}">
                <a16:creationId xmlns:a16="http://schemas.microsoft.com/office/drawing/2014/main" id="{99E5D3A9-3E70-42E4-A34B-5092B8359416}"/>
              </a:ext>
            </a:extLst>
          </p:cNvPr>
          <p:cNvSpPr>
            <a:spLocks noGrp="1"/>
          </p:cNvSpPr>
          <p:nvPr/>
        </p:nvSpPr>
        <p:spPr>
          <a:xfrm>
            <a:off x="1524000" y="3143250"/>
            <a:ext cx="914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650" b="0">
                <a:solidFill>
                  <a:srgbClr val="333D4C"/>
                </a:solidFill>
                <a:latin typeface="Helvetica Neue"/>
                <a:ea typeface="Helvetica Neue"/>
                <a:cs typeface="Helvetica Neue"/>
              </a:defRPr>
            </a:pPr>
            <a:r>
              <a:t>Dari SPK masuk, tugas dikerjakan teknisi, sampai bukti selesai tersimpan — semuanya berjalan dalam satu sistem.</a:t>
            </a:r>
          </a:p>
        </p:txBody>
      </p:sp>
      <p:sp>
        <p:nvSpPr>
          <p:cNvPr id="3" name="end-list">
            <a:extLst>
              <a:ext uri="{FF2B5EF4-FFF2-40B4-BE49-F238E27FC236}">
                <a16:creationId xmlns:a16="http://schemas.microsoft.com/office/drawing/2014/main" id="{4831E6FD-9DC2-45DC-97A6-250FC2FAD745}"/>
              </a:ext>
            </a:extLst>
          </p:cNvPr>
          <p:cNvSpPr>
            <a:spLocks noGrp="1"/>
          </p:cNvSpPr>
          <p:nvPr/>
        </p:nvSpPr>
        <p:spPr>
          <a:xfrm>
            <a:off x="1905000" y="4286250"/>
            <a:ext cx="8382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350" b="0">
                <a:solidFill>
                  <a:srgbClr val="5A6472"/>
                </a:solidFill>
                <a:latin typeface="Helvetica Neue"/>
                <a:ea typeface="Helvetica Neue"/>
                <a:cs typeface="Helvetica Neue"/>
              </a:defRPr>
            </a:pPr>
            <a:r>
              <a:t>Langkah berikutnya: uji coba bersama teknisi · distribusi aplikasi Android · evaluasi &amp; pengembangan lanjutan</a:t>
            </a:r>
          </a:p>
        </p:txBody>
      </p:sp>
      <p:sp>
        <p:nvSpPr>
          <p:cNvPr id="4" name="end-thanks">
            <a:extLst>
              <a:ext uri="{FF2B5EF4-FFF2-40B4-BE49-F238E27FC236}">
                <a16:creationId xmlns:a16="http://schemas.microsoft.com/office/drawing/2014/main" id="{ECA12A89-25DD-44B8-AD30-A7567ADCD9FF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Autofit/>
          </a:bodyPr>
          <a:lstStyle/>
          <a:p>
            <a:pPr algn="ctr">
              <a:defRPr sz="1950" b="1">
                <a:solidFill>
                  <a:srgbClr val="C8102E"/>
                </a:solidFill>
                <a:latin typeface="Helvetica Neue"/>
                <a:ea typeface="Helvetica Neue"/>
                <a:cs typeface="Helvetica Neue"/>
              </a:defRPr>
            </a:pPr>
            <a: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3657379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902</Words>
  <Application>Microsoft Office PowerPoint</Application>
  <DocSecurity>0</DocSecurity>
  <PresentationFormat>Widescreen</PresentationFormat>
  <Paragraphs>150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Pluto2476</cp:lastModifiedBy>
  <cp:revision>4</cp:revision>
  <dcterms:created xsi:type="dcterms:W3CDTF">2026-08-06T09:51:31Z</dcterms:created>
  <dcterms:modified xsi:type="dcterms:W3CDTF">2026-08-07T02:27:07Z</dcterms:modified>
</cp:coreProperties>
</file>